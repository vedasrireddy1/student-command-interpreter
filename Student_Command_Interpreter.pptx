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0" r:id="rId7"/>
    <p:sldId id="266" r:id="rId8"/>
    <p:sldId id="261" r:id="rId9"/>
    <p:sldId id="262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6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584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7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816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 txBox="1"/>
          <p:nvPr/>
        </p:nvSpPr>
        <p:spPr>
          <a:xfrm>
            <a:off x="479160" y="313182"/>
            <a:ext cx="8182230" cy="937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Student Command</a:t>
            </a:r>
            <a:endParaRPr lang="en-US" sz="2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Interpreter</a:t>
            </a:r>
            <a:endParaRPr lang="en-US" sz="2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79160" y="1357155"/>
            <a:ext cx="8182233" cy="5155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mini command-line shell in C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300090"/>
            <a:ext cx="3429000" cy="13716"/>
          </a:xfrm>
          <a:custGeom>
            <a:avLst/>
            <a:gdLst>
              <a:gd name="connsiteX0" fmla="*/ 0 w 3429000"/>
              <a:gd name="connsiteY0" fmla="*/ 0 h 13716"/>
              <a:gd name="connsiteX1" fmla="*/ 685800 w 3429000"/>
              <a:gd name="connsiteY1" fmla="*/ 0 h 13716"/>
              <a:gd name="connsiteX2" fmla="*/ 1371600 w 3429000"/>
              <a:gd name="connsiteY2" fmla="*/ 0 h 13716"/>
              <a:gd name="connsiteX3" fmla="*/ 2057400 w 3429000"/>
              <a:gd name="connsiteY3" fmla="*/ 0 h 13716"/>
              <a:gd name="connsiteX4" fmla="*/ 2674620 w 3429000"/>
              <a:gd name="connsiteY4" fmla="*/ 0 h 13716"/>
              <a:gd name="connsiteX5" fmla="*/ 3429000 w 3429000"/>
              <a:gd name="connsiteY5" fmla="*/ 0 h 13716"/>
              <a:gd name="connsiteX6" fmla="*/ 3429000 w 3429000"/>
              <a:gd name="connsiteY6" fmla="*/ 13716 h 13716"/>
              <a:gd name="connsiteX7" fmla="*/ 2811780 w 3429000"/>
              <a:gd name="connsiteY7" fmla="*/ 13716 h 13716"/>
              <a:gd name="connsiteX8" fmla="*/ 2228850 w 3429000"/>
              <a:gd name="connsiteY8" fmla="*/ 13716 h 13716"/>
              <a:gd name="connsiteX9" fmla="*/ 1543050 w 3429000"/>
              <a:gd name="connsiteY9" fmla="*/ 13716 h 13716"/>
              <a:gd name="connsiteX10" fmla="*/ 925830 w 3429000"/>
              <a:gd name="connsiteY10" fmla="*/ 13716 h 13716"/>
              <a:gd name="connsiteX11" fmla="*/ 0 w 3429000"/>
              <a:gd name="connsiteY11" fmla="*/ 13716 h 13716"/>
              <a:gd name="connsiteX12" fmla="*/ 0 w 3429000"/>
              <a:gd name="connsiteY12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3716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214" y="4075"/>
                  <a:pt x="3429316" y="9784"/>
                  <a:pt x="3429000" y="13716"/>
                </a:cubicBezTo>
                <a:cubicBezTo>
                  <a:pt x="3221081" y="44036"/>
                  <a:pt x="3088001" y="3494"/>
                  <a:pt x="2811780" y="13716"/>
                </a:cubicBezTo>
                <a:cubicBezTo>
                  <a:pt x="2535559" y="23938"/>
                  <a:pt x="2481355" y="20326"/>
                  <a:pt x="2228850" y="13716"/>
                </a:cubicBezTo>
                <a:cubicBezTo>
                  <a:pt x="1976345" y="7107"/>
                  <a:pt x="1807520" y="43784"/>
                  <a:pt x="1543050" y="13716"/>
                </a:cubicBezTo>
                <a:cubicBezTo>
                  <a:pt x="1278580" y="-16352"/>
                  <a:pt x="1181944" y="551"/>
                  <a:pt x="925830" y="13716"/>
                </a:cubicBezTo>
                <a:cubicBezTo>
                  <a:pt x="669716" y="26881"/>
                  <a:pt x="410304" y="30243"/>
                  <a:pt x="0" y="13716"/>
                </a:cubicBezTo>
                <a:cubicBezTo>
                  <a:pt x="-535" y="8247"/>
                  <a:pt x="-201" y="2959"/>
                  <a:pt x="0" y="0"/>
                </a:cubicBezTo>
                <a:close/>
              </a:path>
              <a:path w="3429000" h="13716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8434" y="5320"/>
                  <a:pt x="3428676" y="9001"/>
                  <a:pt x="3429000" y="13716"/>
                </a:cubicBezTo>
                <a:cubicBezTo>
                  <a:pt x="3103464" y="-3979"/>
                  <a:pt x="2887909" y="18368"/>
                  <a:pt x="2743200" y="13716"/>
                </a:cubicBezTo>
                <a:cubicBezTo>
                  <a:pt x="2598491" y="9064"/>
                  <a:pt x="2362615" y="6084"/>
                  <a:pt x="1988820" y="13716"/>
                </a:cubicBezTo>
                <a:cubicBezTo>
                  <a:pt x="1615025" y="21348"/>
                  <a:pt x="1580494" y="-880"/>
                  <a:pt x="1405890" y="13716"/>
                </a:cubicBezTo>
                <a:cubicBezTo>
                  <a:pt x="1231286" y="28312"/>
                  <a:pt x="885259" y="-20857"/>
                  <a:pt x="651510" y="13716"/>
                </a:cubicBezTo>
                <a:cubicBezTo>
                  <a:pt x="417761" y="48289"/>
                  <a:pt x="138362" y="-18428"/>
                  <a:pt x="0" y="13716"/>
                </a:cubicBezTo>
                <a:cubicBezTo>
                  <a:pt x="58" y="7834"/>
                  <a:pt x="453" y="583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C83D51E-5936-E475-65D8-DFBE9D2F48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110596"/>
              </p:ext>
            </p:extLst>
          </p:nvPr>
        </p:nvGraphicFramePr>
        <p:xfrm>
          <a:off x="694266" y="1975104"/>
          <a:ext cx="7753182" cy="268976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876591">
                  <a:extLst>
                    <a:ext uri="{9D8B030D-6E8A-4147-A177-3AD203B41FA5}">
                      <a16:colId xmlns:a16="http://schemas.microsoft.com/office/drawing/2014/main" val="1970800812"/>
                    </a:ext>
                  </a:extLst>
                </a:gridCol>
                <a:gridCol w="3876591">
                  <a:extLst>
                    <a:ext uri="{9D8B030D-6E8A-4147-A177-3AD203B41FA5}">
                      <a16:colId xmlns:a16="http://schemas.microsoft.com/office/drawing/2014/main" val="277494893"/>
                    </a:ext>
                  </a:extLst>
                </a:gridCol>
              </a:tblGrid>
              <a:tr h="537953">
                <a:tc>
                  <a:txBody>
                    <a:bodyPr/>
                    <a:lstStyle/>
                    <a:p>
                      <a:r>
                        <a:rPr lang="en-US" sz="2400" dirty="0"/>
                        <a:t>NAMES</a:t>
                      </a:r>
                      <a:endParaRPr lang="en-IN" sz="2400" dirty="0"/>
                    </a:p>
                  </a:txBody>
                  <a:tcPr marL="122262" marR="122262" marT="61131" marB="61131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ROLL NO.</a:t>
                      </a:r>
                      <a:endParaRPr lang="en-IN" sz="2400"/>
                    </a:p>
                  </a:txBody>
                  <a:tcPr marL="122262" marR="122262" marT="61131" marB="61131"/>
                </a:tc>
                <a:extLst>
                  <a:ext uri="{0D108BD9-81ED-4DB2-BD59-A6C34878D82A}">
                    <a16:rowId xmlns:a16="http://schemas.microsoft.com/office/drawing/2014/main" val="3620462006"/>
                  </a:ext>
                </a:extLst>
              </a:tr>
              <a:tr h="537953">
                <a:tc>
                  <a:txBody>
                    <a:bodyPr/>
                    <a:lstStyle/>
                    <a:p>
                      <a:r>
                        <a:rPr lang="en-US" sz="2400"/>
                        <a:t>RAKESH</a:t>
                      </a:r>
                      <a:endParaRPr lang="en-IN" sz="2400"/>
                    </a:p>
                  </a:txBody>
                  <a:tcPr marL="122262" marR="122262" marT="61131" marB="61131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2510030405</a:t>
                      </a:r>
                      <a:endParaRPr lang="en-IN" sz="2400"/>
                    </a:p>
                  </a:txBody>
                  <a:tcPr marL="122262" marR="122262" marT="61131" marB="61131"/>
                </a:tc>
                <a:extLst>
                  <a:ext uri="{0D108BD9-81ED-4DB2-BD59-A6C34878D82A}">
                    <a16:rowId xmlns:a16="http://schemas.microsoft.com/office/drawing/2014/main" val="3844287655"/>
                  </a:ext>
                </a:extLst>
              </a:tr>
              <a:tr h="537953">
                <a:tc>
                  <a:txBody>
                    <a:bodyPr/>
                    <a:lstStyle/>
                    <a:p>
                      <a:r>
                        <a:rPr lang="en-US" sz="2400"/>
                        <a:t>Vedasri</a:t>
                      </a:r>
                      <a:endParaRPr lang="en-IN" sz="2400"/>
                    </a:p>
                  </a:txBody>
                  <a:tcPr marL="122262" marR="122262" marT="61131" marB="61131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2510030094</a:t>
                      </a:r>
                      <a:endParaRPr lang="en-IN" sz="2400"/>
                    </a:p>
                  </a:txBody>
                  <a:tcPr marL="122262" marR="122262" marT="61131" marB="61131"/>
                </a:tc>
                <a:extLst>
                  <a:ext uri="{0D108BD9-81ED-4DB2-BD59-A6C34878D82A}">
                    <a16:rowId xmlns:a16="http://schemas.microsoft.com/office/drawing/2014/main" val="2648670167"/>
                  </a:ext>
                </a:extLst>
              </a:tr>
              <a:tr h="537953">
                <a:tc>
                  <a:txBody>
                    <a:bodyPr/>
                    <a:lstStyle/>
                    <a:p>
                      <a:r>
                        <a:rPr lang="en-US" sz="2400"/>
                        <a:t>Thrilochan</a:t>
                      </a:r>
                      <a:endParaRPr lang="en-IN" sz="2400"/>
                    </a:p>
                  </a:txBody>
                  <a:tcPr marL="122262" marR="122262" marT="61131" marB="61131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2510030351</a:t>
                      </a:r>
                      <a:endParaRPr lang="en-IN" sz="2400"/>
                    </a:p>
                  </a:txBody>
                  <a:tcPr marL="122262" marR="122262" marT="61131" marB="61131"/>
                </a:tc>
                <a:extLst>
                  <a:ext uri="{0D108BD9-81ED-4DB2-BD59-A6C34878D82A}">
                    <a16:rowId xmlns:a16="http://schemas.microsoft.com/office/drawing/2014/main" val="1975595202"/>
                  </a:ext>
                </a:extLst>
              </a:tr>
              <a:tr h="537953">
                <a:tc>
                  <a:txBody>
                    <a:bodyPr/>
                    <a:lstStyle/>
                    <a:p>
                      <a:r>
                        <a:rPr lang="en-US" sz="2400"/>
                        <a:t>Sai Charan</a:t>
                      </a:r>
                      <a:endParaRPr lang="en-IN" sz="2400"/>
                    </a:p>
                  </a:txBody>
                  <a:tcPr marL="122262" marR="122262" marT="61131" marB="61131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2510030112</a:t>
                      </a:r>
                      <a:endParaRPr lang="en-IN" sz="2400"/>
                    </a:p>
                  </a:txBody>
                  <a:tcPr marL="122262" marR="122262" marT="61131" marB="61131"/>
                </a:tc>
                <a:extLst>
                  <a:ext uri="{0D108BD9-81ED-4DB2-BD59-A6C34878D82A}">
                    <a16:rowId xmlns:a16="http://schemas.microsoft.com/office/drawing/2014/main" val="1863310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 txBox="1"/>
          <p:nvPr/>
        </p:nvSpPr>
        <p:spPr>
          <a:xfrm>
            <a:off x="457200" y="32004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10181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Our Project?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76022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25"/>
                </a:solidFill>
              </a:rPr>
              <a:t>To develop a Student Command Interpreter using the C programming language.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25"/>
                </a:solidFill>
              </a:rPr>
              <a:t>Design a command-line interface to perform student-related operations.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1821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25"/>
                </a:solidFill>
              </a:rPr>
              <a:t>Why did we build it?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299466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25"/>
                </a:solidFill>
              </a:rPr>
              <a:t>To show how a command interpreter interacts with the Operating System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25"/>
                </a:solidFill>
              </a:rPr>
              <a:t>To combine OS concepts with a practical student information system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25"/>
                </a:solidFill>
              </a:rPr>
              <a:t>Technologies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0" y="155448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10181A"/>
          </a:solidFill>
          <a:ln w="12700">
            <a:solidFill>
              <a:srgbClr val="1018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120640" y="1874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331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3EE"/>
                </a:solidFill>
              </a:rPr>
              <a:t>Core language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155448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10181A"/>
          </a:solidFill>
          <a:ln w="12700">
            <a:solidFill>
              <a:srgbClr val="1018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995160" y="1874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/ WSL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331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3EE"/>
                </a:solidFill>
              </a:rPr>
              <a:t>Runtime environment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57248" y="315468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10181A"/>
          </a:solidFill>
          <a:ln w="12700">
            <a:solidFill>
              <a:srgbClr val="1018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048688" y="3474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 Files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048688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3EE"/>
                </a:solidFill>
              </a:rPr>
              <a:t>Student data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 txBox="1"/>
          <p:nvPr/>
        </p:nvSpPr>
        <p:spPr>
          <a:xfrm>
            <a:off x="457200" y="32004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10181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of StudentShell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96012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10181A"/>
          </a:solidFill>
          <a:ln>
            <a:solidFill>
              <a:srgbClr val="10181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USER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Enters a command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11880" y="96012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EAF5EF"/>
          </a:solidFill>
          <a:ln w="12700">
            <a:solidFill>
              <a:srgbClr val="B7D3C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25"/>
                </a:solidFill>
              </a:rPr>
              <a:t>StudentShell&gt;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A25"/>
                </a:solidFill>
              </a:rPr>
              <a:t>Read Input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96012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3DDC84"/>
          </a:solidFill>
          <a:ln>
            <a:solidFill>
              <a:srgbClr val="3DDC84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25"/>
                </a:solidFill>
              </a:rPr>
              <a:t>COMMAND PARSER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A25"/>
                </a:solidFill>
              </a:rPr>
              <a:t>Command + Arguments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08960" y="1234440"/>
            <a:ext cx="502920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532120" y="1234440"/>
            <a:ext cx="502920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995160" y="1508760"/>
            <a:ext cx="0" cy="22860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148840" y="1737360"/>
            <a:ext cx="4846320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148840" y="1737360"/>
            <a:ext cx="0" cy="22860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995160" y="1737360"/>
            <a:ext cx="0" cy="22860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02920" y="196596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EAF5EF"/>
          </a:solidFill>
          <a:ln w="12700">
            <a:solidFill>
              <a:srgbClr val="B7D3C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25"/>
                </a:solidFill>
              </a:rPr>
              <a:t>LINUX COMMAND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A25"/>
                </a:solidFill>
              </a:rPr>
              <a:t>ls, cat, date, mkdir, etc.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196596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EAF5EF"/>
          </a:solidFill>
          <a:ln w="12700">
            <a:solidFill>
              <a:srgbClr val="B7D3C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25"/>
                </a:solidFill>
              </a:rPr>
              <a:t>STUDENT COMMAND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A25"/>
                </a:solidFill>
              </a:rPr>
              <a:t>attendance · internals · cgpa · student · note · help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48840" y="2788920"/>
            <a:ext cx="0" cy="32004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995160" y="2788920"/>
            <a:ext cx="0" cy="32004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02920" y="310896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10181A"/>
          </a:solidFill>
          <a:ln>
            <a:solidFill>
              <a:srgbClr val="10181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  →  execvp()  →  waitpid()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310896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EAF5EF"/>
          </a:solidFill>
          <a:ln w="12700">
            <a:solidFill>
              <a:srgbClr val="B7D3C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25"/>
                </a:solidFill>
              </a:rPr>
              <a:t>DATA FILES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A25"/>
                </a:solidFill>
              </a:rPr>
              <a:t>CSV + Notes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48840" y="3794760"/>
            <a:ext cx="0" cy="18288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995160" y="3794760"/>
            <a:ext cx="0" cy="18288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148840" y="3977640"/>
            <a:ext cx="4846320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72000" y="3977640"/>
            <a:ext cx="0" cy="18288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3200400" y="41605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3DDC84"/>
          </a:solidFill>
          <a:ln>
            <a:solidFill>
              <a:srgbClr val="3DDC84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25"/>
                </a:solidFill>
              </a:rPr>
              <a:t>OUTPUT — displayed to user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65"/>
                </a:solidFill>
              </a:rPr>
              <a:t>Input → Parse → Identify → Execute → Output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 txBox="1"/>
          <p:nvPr/>
        </p:nvSpPr>
        <p:spPr>
          <a:xfrm>
            <a:off x="457200" y="32004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10181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Commands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25"/>
                </a:solidFill>
              </a:rPr>
              <a:t>What is it?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25"/>
                </a:solidFill>
              </a:rPr>
              <a:t>The shell runs Linux commands dynamically instead of hardcoding every command.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94560"/>
            <a:ext cx="694944" cy="347472"/>
          </a:xfrm>
          <a:prstGeom prst="roundRect">
            <a:avLst>
              <a:gd name="adj" fmla="val 21053"/>
            </a:avLst>
          </a:prstGeom>
          <a:solidFill>
            <a:srgbClr val="10181A"/>
          </a:solidFill>
          <a:ln>
            <a:solidFill>
              <a:srgbClr val="10181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2194560"/>
            <a:ext cx="694944" cy="347472"/>
          </a:xfrm>
          <a:prstGeom prst="roundRect">
            <a:avLst>
              <a:gd name="adj" fmla="val 21053"/>
            </a:avLst>
          </a:prstGeom>
          <a:solidFill>
            <a:srgbClr val="10181A"/>
          </a:solidFill>
          <a:ln>
            <a:solidFill>
              <a:srgbClr val="10181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029968" y="2194560"/>
            <a:ext cx="694944" cy="347472"/>
          </a:xfrm>
          <a:prstGeom prst="roundRect">
            <a:avLst>
              <a:gd name="adj" fmla="val 21053"/>
            </a:avLst>
          </a:prstGeom>
          <a:solidFill>
            <a:srgbClr val="10181A"/>
          </a:solidFill>
          <a:ln>
            <a:solidFill>
              <a:srgbClr val="10181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16352" y="2194560"/>
            <a:ext cx="694944" cy="347472"/>
          </a:xfrm>
          <a:prstGeom prst="roundRect">
            <a:avLst>
              <a:gd name="adj" fmla="val 21053"/>
            </a:avLst>
          </a:prstGeom>
          <a:solidFill>
            <a:srgbClr val="10181A"/>
          </a:solidFill>
          <a:ln>
            <a:solidFill>
              <a:srgbClr val="10181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02736" y="2194560"/>
            <a:ext cx="694944" cy="347472"/>
          </a:xfrm>
          <a:prstGeom prst="roundRect">
            <a:avLst>
              <a:gd name="adj" fmla="val 21053"/>
            </a:avLst>
          </a:prstGeom>
          <a:solidFill>
            <a:srgbClr val="10181A"/>
          </a:solidFill>
          <a:ln>
            <a:solidFill>
              <a:srgbClr val="10181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EAF5EF"/>
          </a:solidFill>
          <a:ln w="12700">
            <a:solidFill>
              <a:srgbClr val="B7D3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48640" y="26974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2697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25"/>
                </a:solidFill>
              </a:rPr>
              <a:t>creates a child process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EAF5EF"/>
          </a:solidFill>
          <a:ln w="12700">
            <a:solidFill>
              <a:srgbClr val="B7D3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548640" y="33832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execvp()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33832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25"/>
                </a:solidFill>
              </a:rPr>
              <a:t>replaces the child with the requested Linux program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EAF5EF"/>
          </a:solidFill>
          <a:ln w="12700">
            <a:solidFill>
              <a:srgbClr val="B7D3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548640" y="40690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40690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25"/>
                </a:solidFill>
              </a:rPr>
              <a:t>parent waits for the child to finish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25"/>
                </a:solidFill>
              </a:rPr>
              <a:t>What happens in the code?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1554480"/>
            <a:ext cx="3383280" cy="329184"/>
          </a:xfrm>
          <a:prstGeom prst="roundRect">
            <a:avLst>
              <a:gd name="adj" fmla="val 22222"/>
            </a:avLst>
          </a:prstGeom>
          <a:solidFill>
            <a:srgbClr val="EAF5EF"/>
          </a:solidFill>
          <a:ln>
            <a:solidFill>
              <a:srgbClr val="B7D3C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25"/>
                </a:solidFill>
              </a:rPr>
              <a:t>User Input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12280" y="1883664"/>
            <a:ext cx="0" cy="128016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5120640" y="2011680"/>
            <a:ext cx="3383280" cy="329184"/>
          </a:xfrm>
          <a:prstGeom prst="roundRect">
            <a:avLst>
              <a:gd name="adj" fmla="val 22222"/>
            </a:avLst>
          </a:prstGeom>
          <a:solidFill>
            <a:srgbClr val="EAF5EF"/>
          </a:solidFill>
          <a:ln>
            <a:solidFill>
              <a:srgbClr val="B7D3C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25"/>
                </a:solidFill>
              </a:rPr>
              <a:t>Parse command + arguments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12280" y="2340864"/>
            <a:ext cx="0" cy="128016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5120640" y="2468880"/>
            <a:ext cx="3383280" cy="329184"/>
          </a:xfrm>
          <a:prstGeom prst="roundRect">
            <a:avLst>
              <a:gd name="adj" fmla="val 22222"/>
            </a:avLst>
          </a:prstGeom>
          <a:solidFill>
            <a:srgbClr val="10181A"/>
          </a:solidFill>
          <a:ln>
            <a:solidFill>
              <a:srgbClr val="10181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12280" y="2798064"/>
            <a:ext cx="0" cy="128016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5120640" y="2926080"/>
            <a:ext cx="3383280" cy="329184"/>
          </a:xfrm>
          <a:prstGeom prst="roundRect">
            <a:avLst>
              <a:gd name="adj" fmla="val 22222"/>
            </a:avLst>
          </a:prstGeom>
          <a:solidFill>
            <a:srgbClr val="10181A"/>
          </a:solidFill>
          <a:ln>
            <a:solidFill>
              <a:srgbClr val="10181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Child: execvp(command, args)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12280" y="3255264"/>
            <a:ext cx="0" cy="128016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5120640" y="3383280"/>
            <a:ext cx="3383280" cy="329184"/>
          </a:xfrm>
          <a:prstGeom prst="roundRect">
            <a:avLst>
              <a:gd name="adj" fmla="val 22222"/>
            </a:avLst>
          </a:prstGeom>
          <a:solidFill>
            <a:srgbClr val="EAF5EF"/>
          </a:solidFill>
          <a:ln>
            <a:solidFill>
              <a:srgbClr val="B7D3C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25"/>
                </a:solidFill>
              </a:rPr>
              <a:t>Linux executes command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12280" y="3712464"/>
            <a:ext cx="0" cy="128016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5120640" y="3840480"/>
            <a:ext cx="3383280" cy="329184"/>
          </a:xfrm>
          <a:prstGeom prst="roundRect">
            <a:avLst>
              <a:gd name="adj" fmla="val 22222"/>
            </a:avLst>
          </a:prstGeom>
          <a:solidFill>
            <a:srgbClr val="10181A"/>
          </a:solidFill>
          <a:ln>
            <a:solidFill>
              <a:srgbClr val="10181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12280" y="4169664"/>
            <a:ext cx="0" cy="128016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5120640" y="4297680"/>
            <a:ext cx="3383280" cy="329184"/>
          </a:xfrm>
          <a:prstGeom prst="roundRect">
            <a:avLst>
              <a:gd name="adj" fmla="val 22222"/>
            </a:avLst>
          </a:prstGeom>
          <a:solidFill>
            <a:srgbClr val="EAF5EF"/>
          </a:solidFill>
          <a:ln>
            <a:solidFill>
              <a:srgbClr val="B7D3C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25"/>
                </a:solidFill>
              </a:rPr>
              <a:t>Shell continues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 txBox="1"/>
          <p:nvPr/>
        </p:nvSpPr>
        <p:spPr>
          <a:xfrm>
            <a:off x="457200" y="32004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10181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25"/>
                </a:solidFill>
              </a:rPr>
              <a:t>Linux Commands</a:t>
            </a:r>
            <a:endParaRPr lang="en-US" sz="1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B87B74-432C-2272-F9A7-0CE92BA9E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8" y="1417320"/>
            <a:ext cx="9030483" cy="6934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529484D-2AB1-FB6F-DFFA-87799C97A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36" y="3249902"/>
            <a:ext cx="3962743" cy="31244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797BA48-D631-2EF2-B6A3-4D07CA71C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4195" y="2247960"/>
            <a:ext cx="4593098" cy="267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889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 txBox="1"/>
          <p:nvPr/>
        </p:nvSpPr>
        <p:spPr>
          <a:xfrm>
            <a:off x="457200" y="32004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10181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Attendance, Internals &amp; CGPA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25"/>
                </a:solidFill>
              </a:rPr>
              <a:t>Custom C functions that retrieve a student's academic information from CSV files.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3840480" cy="14630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Command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2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attendance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2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attendance.csv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2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internals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2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internals.csv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2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cgpa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2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cgpa.csv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25"/>
                </a:solidFill>
              </a:rPr>
              <a:t>What happens in the code?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06324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EAF5EF"/>
          </a:solidFill>
          <a:ln w="12700">
            <a:solidFill>
              <a:srgbClr val="B7D3C5"/>
            </a:solidFill>
          </a:ln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25"/>
                </a:solidFill>
              </a:rPr>
              <a:t>fopen() opens the CSV file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017520" y="3291840"/>
            <a:ext cx="274320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3291840" y="306324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EAF5EF"/>
          </a:solidFill>
          <a:ln w="12700">
            <a:solidFill>
              <a:srgbClr val="B7D3C5"/>
            </a:solidFill>
          </a:ln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25"/>
                </a:solidFill>
              </a:rPr>
              <a:t>fgets() reads each row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852160" y="3291840"/>
            <a:ext cx="274320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6126480" y="306324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EAF5EF"/>
          </a:solidFill>
          <a:ln w="12700">
            <a:solidFill>
              <a:srgbClr val="B7D3C5"/>
            </a:solidFill>
          </a:ln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25"/>
                </a:solidFill>
              </a:rPr>
              <a:t>get_field() extracts CSV fields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7033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EAF5EF"/>
          </a:solidFill>
          <a:ln w="12700">
            <a:solidFill>
              <a:srgbClr val="B7D3C5"/>
            </a:solidFill>
          </a:ln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25"/>
                </a:solidFill>
              </a:rPr>
              <a:t>strcmp() compares roll number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017520" y="3931920"/>
            <a:ext cx="274320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3291840" y="37033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EAF5EF"/>
          </a:solidFill>
          <a:ln w="12700">
            <a:solidFill>
              <a:srgbClr val="B7D3C5"/>
            </a:solidFill>
          </a:ln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25"/>
                </a:solidFill>
              </a:rPr>
              <a:t>Matching record is found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852160" y="3931920"/>
            <a:ext cx="274320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6126480" y="37033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EAF5EF"/>
          </a:solidFill>
          <a:ln w="12700">
            <a:solidFill>
              <a:srgbClr val="B7D3C5"/>
            </a:solidFill>
          </a:ln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25"/>
                </a:solidFill>
              </a:rPr>
              <a:t>printf() displays the data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65"/>
                </a:solidFill>
              </a:rPr>
              <a:t>The same process is used for internals and cgpa. 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 txBox="1"/>
          <p:nvPr/>
        </p:nvSpPr>
        <p:spPr>
          <a:xfrm>
            <a:off x="457200" y="32004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10181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3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5933795-C556-B11C-0A3B-E85ACE57E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34" y="1173359"/>
            <a:ext cx="3303459" cy="27367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6DE1130-8E76-C470-2B8A-4927F4914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2493" y="174169"/>
            <a:ext cx="3353091" cy="154699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FF30E9D-F086-4DC5-417B-1F529F11DF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2493" y="2008705"/>
            <a:ext cx="3406435" cy="282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356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 txBox="1"/>
          <p:nvPr/>
        </p:nvSpPr>
        <p:spPr>
          <a:xfrm>
            <a:off x="457200" y="32004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10181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Dashboard &amp; Notes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EAF5EF"/>
          </a:solidFill>
          <a:ln w="12700">
            <a:solidFill>
              <a:srgbClr val="B7D3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4008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25"/>
                </a:solidFill>
              </a:rPr>
              <a:t>student — Dashboard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5"/>
                </a:solidFill>
              </a:rPr>
              <a:t>One command that combines data from all three CSV files.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116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B2A25"/>
                </a:solidFill>
              </a:rPr>
              <a:t>Enter roll number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B2A25"/>
                </a:solidFill>
              </a:rPr>
              <a:t>Open 3 CSV files with fopen()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B2A25"/>
                </a:solidFill>
              </a:rPr>
              <a:t>Search attendance.csv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B2A25"/>
                </a:solidFill>
              </a:rPr>
              <a:t>Search internals.csv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B2A25"/>
                </a:solidFill>
              </a:rPr>
              <a:t>Search cgpa.csv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B2A25"/>
                </a:solidFill>
              </a:rPr>
              <a:t>Store the matching values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B2A25"/>
                </a:solidFill>
              </a:rPr>
              <a:t>printf() displays the dashboard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0233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1B2A25"/>
                </a:solidFill>
              </a:rPr>
              <a:t>The same roll number is used for all three files, so the data belongs to one student.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10181A"/>
          </a:solidFill>
          <a:ln w="12700">
            <a:solidFill>
              <a:srgbClr val="1018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note — Notes System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 add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8928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F3EE"/>
                </a:solidFill>
              </a:rPr>
              <a:t>fopen("notes.txt","a") → time() + ctime() → write timestamp + note → fclose()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 view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8986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F3EE"/>
                </a:solidFill>
              </a:rPr>
              <a:t>fopen("notes.txt","r") → fgets() reads notes → printf() displays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 delete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9044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F3EE"/>
                </a:solidFill>
              </a:rPr>
              <a:t>fopen("notes.txt","w") → opened for writing → existing contents cleared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 txBox="1"/>
          <p:nvPr/>
        </p:nvSpPr>
        <p:spPr>
          <a:xfrm>
            <a:off x="457200" y="32004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10181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743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3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A324E9-CAE4-F33C-ACFE-F2F454EC0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868680"/>
            <a:ext cx="2872664" cy="40404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38BEE77-1079-B582-49F4-4ADAE8451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1885" y="1580689"/>
            <a:ext cx="4359195" cy="23014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StudentShell&gt; exit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474</Words>
  <Application>Microsoft Office PowerPoint</Application>
  <PresentationFormat>On-screen Show (16:9)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Command Interpreter</dc:title>
  <dc:subject>PptxGenJS Presentation</dc:subject>
  <dc:creator>PptxGenJS</dc:creator>
  <cp:lastModifiedBy>Sai Rakesh Penumutchu</cp:lastModifiedBy>
  <cp:revision>2</cp:revision>
  <dcterms:created xsi:type="dcterms:W3CDTF">2026-10-02T18:59:03Z</dcterms:created>
  <dcterms:modified xsi:type="dcterms:W3CDTF">2026-10-02T19:10:33Z</dcterms:modified>
</cp:coreProperties>
</file>